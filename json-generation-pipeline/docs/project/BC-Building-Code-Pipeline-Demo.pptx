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63" r:id="rId9"/>
    <p:sldId id="261" r:id="rId10"/>
    <p:sldId id="274" r:id="rId11"/>
    <p:sldId id="264" r:id="rId12"/>
    <p:sldId id="266" r:id="rId13"/>
    <p:sldId id="267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BC Building Code</a:t>
            </a:r>
            <a:br/>
            <a:r>
              <a:t>JSON 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Transforming the National Building Code into BC's Building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Why Do We Need This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BC adopts the National Building Code (NBC) as its foundation</a:t>
            </a:r>
            <a:br>
              <a:rPr lang="en-US" dirty="0"/>
            </a:br>
            <a:r>
              <a:rPr lang="en-US" dirty="0"/>
              <a:t>The current publications are in form of pdf and word documents.</a:t>
            </a:r>
            <a:br>
              <a:rPr lang="en-US" dirty="0"/>
            </a:br>
            <a:r>
              <a:rPr lang="en-US" dirty="0"/>
              <a:t>PDF to JSON will have difficulties like wrong data, format etc.</a:t>
            </a:r>
            <a:br>
              <a:rPr lang="en-US" dirty="0"/>
            </a:b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"What did the code say on January 1, 2024?" - Previously impossible!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THE SOLUTION: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Automated amendment system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Track every change with full history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Query the code at any point in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It Works: The Complete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8C00"/>
                </a:solidFill>
              </a:defRPr>
            </a:pPr>
            <a:r>
              <a:t>STAGE 0: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70C0"/>
                </a:solidFill>
              </a:defRPr>
            </a:pPr>
            <a:r>
              <a:t>STAGE 1: OVERLAY AMENDMENTS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70C0"/>
                </a:solidFill>
              </a:defRPr>
            </a:pPr>
            <a:r>
              <a:t>STAGE 2: REVISION AMENDMENTS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394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8000"/>
                </a:solidFill>
              </a:defRPr>
            </a:pPr>
            <a:r>
              <a:t>STAGE 3: JSON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FF8C0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NBC 2020</a:t>
            </a:r>
            <a:br/>
            <a:r>
              <a:t>Vendor XML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600200"/>
            <a:ext cx="45720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0" y="1371600"/>
            <a:ext cx="2011680" cy="73152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Normalization</a:t>
            </a:r>
            <a:br>
              <a:rPr dirty="0"/>
            </a:br>
            <a:r>
              <a:rPr dirty="0"/>
              <a:t>(XSLT)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03520" y="1600200"/>
            <a:ext cx="45720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2286000" cy="73152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nbc-canonical.xml</a:t>
            </a:r>
            <a:br/>
            <a:r>
              <a:t>(Stable IDs)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2011680" cy="73152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BC Overlay</a:t>
            </a:r>
            <a:br>
              <a:rPr dirty="0"/>
            </a:br>
            <a:r>
              <a:rPr dirty="0"/>
              <a:t>Amendments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60320" y="3063240"/>
            <a:ext cx="45720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0" y="2834640"/>
            <a:ext cx="2011680" cy="73152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Merge Engine</a:t>
            </a:r>
            <a:r>
              <a:rPr lang="en-US" dirty="0"/>
              <a:t> </a:t>
            </a:r>
            <a:r>
              <a:rPr lang="en-CA" dirty="0"/>
              <a:t>Phase 1</a:t>
            </a:r>
            <a:br>
              <a:rPr dirty="0"/>
            </a:br>
            <a:r>
              <a:rPr dirty="0"/>
              <a:t>(</a:t>
            </a:r>
            <a:r>
              <a:rPr lang="en-CA" dirty="0"/>
              <a:t>XSLT</a:t>
            </a:r>
            <a:r>
              <a:rPr dirty="0"/>
              <a:t>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03520" y="3063240"/>
            <a:ext cx="45720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0" y="2834640"/>
            <a:ext cx="2286000" cy="73152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bc-building-</a:t>
            </a:r>
            <a:br/>
            <a:r>
              <a:t>code.xml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9440" y="2194560"/>
            <a:ext cx="274320" cy="457200"/>
          </a:xfrm>
          <a:prstGeom prst="down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2011680" cy="73152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Revision</a:t>
            </a:r>
            <a:br/>
            <a:r>
              <a:t>Amendments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60320" y="4526280"/>
            <a:ext cx="45720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00400" y="4297680"/>
            <a:ext cx="2011680" cy="73152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Merge Engine</a:t>
            </a:r>
            <a:r>
              <a:rPr lang="en-US" dirty="0"/>
              <a:t> </a:t>
            </a:r>
            <a:r>
              <a:rPr lang="en-CA" dirty="0"/>
              <a:t>Phase 2</a:t>
            </a:r>
            <a:br>
              <a:rPr dirty="0"/>
            </a:br>
            <a:r>
              <a:rPr dirty="0"/>
              <a:t>(</a:t>
            </a:r>
            <a:r>
              <a:rPr lang="en-CA" dirty="0"/>
              <a:t>XSLT</a:t>
            </a:r>
            <a:r>
              <a:rPr dirty="0"/>
              <a:t>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303520" y="4526280"/>
            <a:ext cx="45720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43600" y="4297680"/>
            <a:ext cx="2286000" cy="731520"/>
          </a:xfrm>
          <a:prstGeom prst="roundRect">
            <a:avLst/>
          </a:prstGeom>
          <a:solidFill>
            <a:srgbClr val="0070C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bc-building-</a:t>
            </a:r>
            <a:br/>
            <a:r>
              <a:t>code-final.xml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9440" y="3657600"/>
            <a:ext cx="274320" cy="457200"/>
          </a:xfrm>
          <a:prstGeom prst="down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6949440" y="5120640"/>
            <a:ext cx="274320" cy="457200"/>
          </a:xfrm>
          <a:prstGeom prst="down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0" y="5760720"/>
            <a:ext cx="2286000" cy="731520"/>
          </a:xfrm>
          <a:prstGeom prst="roundRect">
            <a:avLst/>
          </a:prstGeom>
          <a:solidFill>
            <a:srgbClr val="00800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bc-building-</a:t>
            </a:r>
            <a:br/>
            <a:r>
              <a:t>code.json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371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Generates stable</a:t>
            </a:r>
            <a:br/>
            <a:r>
              <a:t>hierarchical 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8346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Replace, Insert,</a:t>
            </a:r>
            <a:br/>
            <a:r>
              <a:t>Modify, 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97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Effective dates,</a:t>
            </a:r>
            <a:br/>
            <a:r>
              <a:t>History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760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Web-ready</a:t>
            </a:r>
            <a:br/>
            <a: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0: NBC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Converting Vendor XML to Canonical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367" y="1554480"/>
            <a:ext cx="1127729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The NBC comes from the vendor (</a:t>
            </a:r>
            <a:r>
              <a:rPr sz="1600" dirty="0" err="1"/>
              <a:t>Arbortext</a:t>
            </a:r>
            <a:r>
              <a:rPr sz="1600" dirty="0"/>
              <a:t>) in a raw format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Inconsistent IDs like 'ea004586', 'es007850'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Vendor-specific markup and structure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sz="1600"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Normalization converts to CANONICAL format: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Vendor ID: ea004586 → Canonical: nbc.divB.part3.sect8.subsect2.art6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All IDs follow a predictable hierarchy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Original vendor IDs preserved for traceability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sz="1600"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WHY IT MATTERS: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Stable IDs enable reliable amendments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Cross-references work correctly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Foundation for all downstream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ID Normalization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From Vendor IDs to Canonical IDs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029200" cy="2286000"/>
          </a:xfrm>
          <a:prstGeom prst="roundRect">
            <a:avLst/>
          </a:prstGeom>
          <a:solidFill>
            <a:srgbClr val="FFE6E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0000"/>
                </a:solidFill>
              </a:defRPr>
            </a:pPr>
            <a:r>
              <a:t>BEFORE (Vendor XML)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t>&lt;article id="ea004586"&gt;</a:t>
            </a:r>
            <a:br/>
            <a:r>
              <a:t>  &lt;sentence id="es007850"&gt;</a:t>
            </a:r>
            <a:br/>
            <a:r>
              <a:t>    Requirements for...</a:t>
            </a:r>
            <a:br/>
            <a:r>
              <a:t>  &lt;/sentence&gt;</a:t>
            </a:r>
            <a:br/>
            <a:r>
              <a:t>&lt;/article&gt;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651760"/>
            <a:ext cx="731520" cy="274320"/>
          </a:xfrm>
          <a:prstGeom prst="rightArrow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2286000"/>
          </a:xfrm>
          <a:prstGeom prst="roundRect">
            <a:avLst/>
          </a:prstGeom>
          <a:solidFill>
            <a:srgbClr val="E6FFE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AFTER (Canonical XML)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95959"/>
                </a:solidFill>
                <a:latin typeface="Consolas"/>
              </a:defRPr>
            </a:pPr>
            <a:r>
              <a:t>&lt;article xml:id="nbc.divB.part3.sect8.art6"</a:t>
            </a:r>
            <a:br/>
            <a:r>
              <a:t>         vendor-id="ea004586"&gt;</a:t>
            </a:r>
            <a:br/>
            <a:r>
              <a:t>  &lt;sentence xml:id="nbc...art6.sent1"</a:t>
            </a:r>
            <a:br/>
            <a:r>
              <a:t>            vendor-id="es007850"&gt;</a:t>
            </a:r>
            <a:br/>
            <a:r>
              <a:t>    Requirements for...</a:t>
            </a:r>
            <a:br/>
            <a:r>
              <a:t>  &lt;/sentence&gt;</a:t>
            </a:r>
            <a:br/>
            <a:r>
              <a:t>&lt;/article&gt;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Benefits of Canonical IDs:</a:t>
            </a:r>
          </a:p>
          <a:p>
            <a:pPr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t>• Hierarchical structure shows document location</a:t>
            </a:r>
          </a:p>
          <a:p>
            <a:pPr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t>• Stable across different publishing runs</a:t>
            </a:r>
          </a:p>
          <a:p>
            <a:pPr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t>• Self-documenting (you can read what it refers to)</a:t>
            </a:r>
          </a:p>
          <a:p>
            <a:pPr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t>• Vendor IDs preserved for 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1: Overlay Amendments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Making Structural Changes to the NBC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Add new BC-specific content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Example: Part 10 - Radon Protection (BC only)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Replace NBC content with BC requirements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Example: NBC says "required" → BC says "permitted"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Modify existing text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Small wording changes, terminology updates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Delete content that doesn't apply to 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Amendment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Five Ways to Modify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REPLACE - Swap entire articles/sentences with BC version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INSERT - Add new BC-specific content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MODIFY - Small text changes within existing content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DELETE - Remove content that doesn't apply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dirty="0"/>
              <a:t>REVISION - Track changes with effective dates and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an Amendment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Simple, Human-Readable XML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77295" cy="475488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dirty="0"/>
              <a:t>&lt;amendment id="bc-017"</a:t>
            </a:r>
            <a:br>
              <a:rPr dirty="0"/>
            </a:br>
            <a:r>
              <a:rPr dirty="0"/>
              <a:t>           description="Change 'required' to 'permitted'"&gt;</a:t>
            </a:r>
            <a:br>
              <a:rPr dirty="0"/>
            </a:br>
            <a:br>
              <a:rPr dirty="0"/>
            </a:br>
            <a:r>
              <a:rPr dirty="0"/>
              <a:t>    &lt;target id="nbc.divB.part3.sect1.art2.sent2"/&gt;</a:t>
            </a:r>
            <a:br>
              <a:rPr dirty="0"/>
            </a:br>
            <a:br>
              <a:rPr dirty="0"/>
            </a:br>
            <a:r>
              <a:rPr dirty="0"/>
              <a:t>    &lt;modify&gt;</a:t>
            </a:r>
            <a:br>
              <a:rPr dirty="0"/>
            </a:br>
            <a:r>
              <a:rPr dirty="0"/>
              <a:t>        &lt;find&gt;required to be of&lt;/find&gt;</a:t>
            </a:r>
            <a:br>
              <a:rPr dirty="0"/>
            </a:br>
            <a:r>
              <a:rPr dirty="0"/>
              <a:t>        &lt;replace&gt;permitted to be of&lt;/replace&gt;</a:t>
            </a:r>
            <a:br>
              <a:rPr dirty="0"/>
            </a:br>
            <a:r>
              <a:rPr dirty="0"/>
              <a:t>    &lt;/modify&gt;</a:t>
            </a:r>
            <a:br>
              <a:rPr dirty="0"/>
            </a:br>
            <a:br>
              <a:rPr dirty="0"/>
            </a:br>
            <a:r>
              <a:rPr dirty="0"/>
              <a:t>&lt;/amendment&gt;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Translation: "Find 'required to be of' and change it to 'permitted to be of'"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2: Revision Amendments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Tracking Changes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Records WHEN changes take effect (effective dates)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Tracks ministerial orders, errata, policy updates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Preserves original content + all revisions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USE CASE: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"Show me what Article 3.2.5.7 said on April 1, 2024"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The system CAN answer this because we track complete history!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AB1C-6ADC-D85D-3597-CCD867ED2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4723C-C54E-3FD4-6AF5-7E624D08391B}"/>
              </a:ext>
            </a:extLst>
          </p:cNvPr>
          <p:cNvSpPr txBox="1"/>
          <p:nvPr/>
        </p:nvSpPr>
        <p:spPr>
          <a:xfrm>
            <a:off x="457200" y="274320"/>
            <a:ext cx="71996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What </a:t>
            </a:r>
            <a:r>
              <a:rPr lang="en-US" dirty="0"/>
              <a:t>a</a:t>
            </a:r>
            <a:r>
              <a:rPr dirty="0"/>
              <a:t> </a:t>
            </a:r>
            <a:r>
              <a:rPr lang="en-US" dirty="0"/>
              <a:t>Revision </a:t>
            </a:r>
            <a:r>
              <a:rPr dirty="0"/>
              <a:t>Amendment Looks Like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8C47E-B07C-B3A9-ED00-0995420FED3F}"/>
              </a:ext>
            </a:extLst>
          </p:cNvPr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Simple, Human-Readable XML Structure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BBD91D3-CD88-B69B-FB30-5743A5D77F7A}"/>
              </a:ext>
            </a:extLst>
          </p:cNvPr>
          <p:cNvSpPr/>
          <p:nvPr/>
        </p:nvSpPr>
        <p:spPr>
          <a:xfrm>
            <a:off x="457200" y="1645920"/>
            <a:ext cx="11277295" cy="475488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7E57-4782-D906-7D96-C5A3B6B12CA3}"/>
              </a:ext>
            </a:extLst>
          </p:cNvPr>
          <p:cNvSpPr txBox="1"/>
          <p:nvPr/>
        </p:nvSpPr>
        <p:spPr>
          <a:xfrm>
            <a:off x="640080" y="1828800"/>
            <a:ext cx="9033242" cy="43242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&lt;amendment id="bc-mo-2024-06-002" sequence="4001"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description="Amend Clause 1.1.1.1.(2)(a)"&gt;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&lt;target type="canonical-id" id="nbc.divA.part1.sect1.subsect1.art1.sent2.clause1"/&gt;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&lt;replace preserve-references="false"&gt;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&lt;new-content source="</a:t>
            </a:r>
            <a:r>
              <a:rPr lang="en-CA" sz="1100" dirty="0" err="1"/>
              <a:t>bc</a:t>
            </a:r>
            <a:r>
              <a:rPr lang="en-CA" sz="1100" dirty="0"/>
              <a:t>"&gt;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&lt;clause </a:t>
            </a:r>
            <a:r>
              <a:rPr lang="en-CA" sz="1100" dirty="0" err="1"/>
              <a:t>xml:id</a:t>
            </a:r>
            <a:r>
              <a:rPr lang="en-CA" sz="1100" dirty="0"/>
              <a:t>="nbc.divA.part1.sect1.subsect1.art1.sent2.clause1"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letter="a" revised="yes"&gt;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&lt;revision-history&gt;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&lt;original effective-date="2020-12-01"&gt;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&lt;!-- Merge engine will auto-populate --&gt;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&lt;/original&gt;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&lt;revision seq="1" type="amendment" effective-date="2025-06-16"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      id="bc-mo-2024-06-002" status="current"&gt;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&lt;content&gt;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    &lt;text&gt;&lt;ref type="term" target="</a:t>
            </a:r>
            <a:r>
              <a:rPr lang="en-CA" sz="1100" dirty="0" err="1"/>
              <a:t>swg</a:t>
            </a:r>
            <a:r>
              <a:rPr lang="en-CA" sz="1100" dirty="0"/>
              <a:t>"&gt;sewage&lt;/ref&gt;, water, electrical,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        telephone, rail or similar public infrastructure systems...&lt;/text&gt;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&lt;/content&gt;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&lt;change-summary&gt;Amended by striking out "sewage" and substituting "sewage"&lt;/change-summary&gt;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    &lt;note&gt;Ministerial Order BA 2024 06&lt;/note&gt;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    &lt;/revision&gt;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    &lt;/revision-history&gt;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    &lt;/clause&gt;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    &lt;/new-content&gt;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    &lt;/replace&gt;</a:t>
            </a:r>
          </a:p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rPr lang="en-CA" sz="1100" dirty="0"/>
              <a:t>&lt;/amendment&gt;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0139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BC-Specific Content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Unified ID System with Source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All content uses unified 'nbc.' prefix: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nbc.divB.part3.sect1.subsect2.art1.sent1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BC content marked with source attribute: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&lt;article id="nbc.divB.part10.sect1.art1" source="bc"&gt;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BENEFITS: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Easy filtering: 'Show only BC changes'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Seamless cross-references between NBC and BC content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Clear audit trail for what BC modified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JSON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Ready for Web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77295" cy="475488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t>{</a:t>
            </a:r>
            <a:br/>
            <a:r>
              <a:t>  "id": "nbc.divB.part3.sect1.art1",</a:t>
            </a:r>
            <a:br/>
            <a:r>
              <a:t>  "type": "article",</a:t>
            </a:r>
            <a:br/>
            <a:r>
              <a:t>  "source": "bc",                    ◄── BC-specific indicator</a:t>
            </a:r>
            <a:br/>
            <a:r>
              <a:t>  "title": "Application",</a:t>
            </a:r>
            <a:br/>
            <a:r>
              <a:t>  "sentences": [</a:t>
            </a:r>
            <a:br/>
            <a:r>
              <a:t>    {</a:t>
            </a:r>
            <a:br/>
            <a:r>
              <a:t>      "number": 1,</a:t>
            </a:r>
            <a:br/>
            <a:r>
              <a:t>      "source": "bc",</a:t>
            </a:r>
            <a:br/>
            <a:r>
              <a:t>      "text": "This Section applies to..."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  <a:br/>
            <a:br/>
            <a:r>
              <a:t>POWERS: Search, filtering, date queries, BC-indicator badges</a:t>
            </a:r>
            <a:br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Revision History in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Tracking Changes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77295" cy="475488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/>
              </a:defRPr>
            </a:pPr>
            <a:r>
              <a:t>{</a:t>
            </a:r>
            <a:br/>
            <a:r>
              <a:t>  "id": "nbc.divB.part3.sect1.art1.sent1",</a:t>
            </a:r>
            <a:br/>
            <a:r>
              <a:t>  "revised": true,</a:t>
            </a:r>
            <a:br/>
            <a:r>
              <a:t>  "revisions": [</a:t>
            </a:r>
            <a:br/>
            <a:r>
              <a:t>    {</a:t>
            </a:r>
            <a:br/>
            <a:r>
              <a:t>      "type": "original",</a:t>
            </a:r>
            <a:br/>
            <a:r>
              <a:t>      "effective_date": "2020-12-01",</a:t>
            </a:r>
            <a:br/>
            <a:r>
              <a:t>      "content": "Old text..."</a:t>
            </a:r>
            <a:br/>
            <a:r>
              <a:t>    },</a:t>
            </a:r>
            <a:br/>
            <a:r>
              <a:t>    {</a:t>
            </a:r>
            <a:br/>
            <a:r>
              <a:t>      "type": "amendment",</a:t>
            </a:r>
            <a:br/>
            <a:r>
              <a:t>      "effective_date": "2024-04-05",</a:t>
            </a:r>
            <a:br/>
            <a:r>
              <a:t>      "status": "current",</a:t>
            </a:r>
            <a:br/>
            <a:r>
              <a:t>      "content": "New text...",</a:t>
            </a:r>
            <a:br/>
            <a:r>
              <a:t>      "note": "Ministerial Order BA 2024 01"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  <a:br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Manual edits to 1000s of pages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No change history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'What was the code on X date?' - Impossible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BC changes mixed in, hard to find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Error-prone copy/paste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Inconsistent vendor 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Automated transformation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Complete audit trail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Date-based queries supported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source='bc' filtering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Validated amendments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Stable canonical IDs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Validation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Built-in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Schema Validation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Ensures correct XML structure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Reference Checking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Verifies all cross-references resolve correctly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Amendment Validation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Confirms changes apply without errors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Detailed Reports</a:t>
            </a:r>
          </a:p>
          <a:p>
            <a:pPr lvl="1"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Highlights issues before publication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RESULT: Confidence that the published code is accurate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Demo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Let's See It in 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</a:defRPr>
            </a:pPr>
            <a:r>
              <a:t>BC Building Code Amendment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b="1" dirty="0"/>
              <a:t>WHAT WE BUILT: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NBC normalization: Vendor XML → Canonical format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Automated pipeline: NBC → BC Building Code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Two-phase amendment system (structure + history)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Date-based versioning for any point in time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JSON output for web applications</a:t>
            </a:r>
            <a:br>
              <a:rPr lang="en-US" sz="1600" dirty="0"/>
            </a:br>
            <a:endParaRPr sz="1600" dirty="0"/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b="1" dirty="0"/>
              <a:t>WHAT IT ENABLES: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Faster code updates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Complete audit trail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'What was the code on X date?' queries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rPr sz="1600" dirty="0"/>
              <a:t>BC-specific content filtering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12107" y="3840480"/>
            <a:ext cx="156748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rPr dirty="0"/>
              <a:t>Thank You!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1459</Words>
  <Application>Microsoft Office PowerPoint</Application>
  <PresentationFormat>Widescreen</PresentationFormat>
  <Paragraphs>186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Unnithan, Ratheesh CITZ:EX</cp:lastModifiedBy>
  <cp:revision>5</cp:revision>
  <dcterms:created xsi:type="dcterms:W3CDTF">2013-01-27T09:14:16Z</dcterms:created>
  <dcterms:modified xsi:type="dcterms:W3CDTF">2026-02-09T16:25:56Z</dcterms:modified>
  <cp:category/>
</cp:coreProperties>
</file>